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756d479c70437b" /><Relationship Type="http://schemas.openxmlformats.org/officeDocument/2006/relationships/extended-properties" Target="/docProps/app.xml" Id="R2e25cdf8a77844f2" /><Relationship Type="http://schemas.openxmlformats.org/officeDocument/2006/relationships/officeDocument" Target="/ppt/presentation.xml" Id="R38ca1ba026124520" /></Relationships>
</file>

<file path=ppt/presentation.xml><?xml version="1.0" encoding="utf-8"?>
<p:presentation xmlns:p="http://schemas.openxmlformats.org/presentationml/2006/main">
  <p:sldMasterIdLst>
    <p:sldMasterId xmlns:r="http://schemas.openxmlformats.org/officeDocument/2006/relationships" id="2147483648" r:id="Rcad57f5ecbb544bb"/>
  </p:sldMasterIdLst>
  <p:notesMasterIdLst>
    <p:notesMasterId xmlns:r="http://schemas.openxmlformats.org/officeDocument/2006/relationships" r:id="R85247991c4264792"/>
  </p:notesMasterIdLst>
  <p:sldIdLst>
    <p:sldId xmlns:r="http://schemas.openxmlformats.org/officeDocument/2006/relationships" id="256" r:id="R95510e08d0cc4710"/>
    <p:sldId xmlns:r="http://schemas.openxmlformats.org/officeDocument/2006/relationships" id="257" r:id="R9c0189338bbf4faa"/>
    <p:sldId xmlns:r="http://schemas.openxmlformats.org/officeDocument/2006/relationships" id="258" r:id="R8d8fd091ca54457c"/>
    <p:sldId xmlns:r="http://schemas.openxmlformats.org/officeDocument/2006/relationships" id="259" r:id="R13fc164079e5433a"/>
    <p:sldId xmlns:r="http://schemas.openxmlformats.org/officeDocument/2006/relationships" id="260" r:id="R0c9f9c0c45df472b"/>
    <p:sldId xmlns:r="http://schemas.openxmlformats.org/officeDocument/2006/relationships" id="261" r:id="R72f433070170493f"/>
    <p:sldId xmlns:r="http://schemas.openxmlformats.org/officeDocument/2006/relationships" id="262" r:id="R630382ae0876411f"/>
    <p:sldId xmlns:r="http://schemas.openxmlformats.org/officeDocument/2006/relationships" id="263" r:id="R4cb15981c4bb4e21"/>
    <p:sldId xmlns:r="http://schemas.openxmlformats.org/officeDocument/2006/relationships" id="264" r:id="Rc0b6e76c711744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b137cbe4044ee0" /><Relationship Type="http://schemas.openxmlformats.org/officeDocument/2006/relationships/slideMaster" Target="/ppt/slideMasters/slideMaster1.xml" Id="Rcad57f5ecbb544bb" /><Relationship Type="http://schemas.openxmlformats.org/officeDocument/2006/relationships/notesMaster" Target="/ppt/notesMasters/notesMaster1.xml" Id="R85247991c4264792" /><Relationship Type="http://schemas.openxmlformats.org/officeDocument/2006/relationships/presProps" Target="/ppt/presProps.xml" Id="R8594a356e6b440c1" /><Relationship Type="http://schemas.openxmlformats.org/officeDocument/2006/relationships/tableStyles" Target="/ppt/tableStyles.xml" Id="R981d44d394814bd5" /><Relationship Type="http://schemas.openxmlformats.org/officeDocument/2006/relationships/slide" Target="/ppt/slides/slide1.xml" Id="R95510e08d0cc4710" /><Relationship Type="http://schemas.openxmlformats.org/officeDocument/2006/relationships/slide" Target="/ppt/slides/slide2.xml" Id="R9c0189338bbf4faa" /><Relationship Type="http://schemas.openxmlformats.org/officeDocument/2006/relationships/slide" Target="/ppt/slides/slide3.xml" Id="R8d8fd091ca54457c" /><Relationship Type="http://schemas.openxmlformats.org/officeDocument/2006/relationships/slide" Target="/ppt/slides/slide4.xml" Id="R13fc164079e5433a" /><Relationship Type="http://schemas.openxmlformats.org/officeDocument/2006/relationships/slide" Target="/ppt/slides/slide5.xml" Id="R0c9f9c0c45df472b" /><Relationship Type="http://schemas.openxmlformats.org/officeDocument/2006/relationships/slide" Target="/ppt/slides/slide6.xml" Id="R72f433070170493f" /><Relationship Type="http://schemas.openxmlformats.org/officeDocument/2006/relationships/slide" Target="/ppt/slides/slide7.xml" Id="R630382ae0876411f" /><Relationship Type="http://schemas.openxmlformats.org/officeDocument/2006/relationships/slide" Target="/ppt/slides/slide8.xml" Id="R4cb15981c4bb4e21" /><Relationship Type="http://schemas.openxmlformats.org/officeDocument/2006/relationships/slide" Target="/ppt/slides/slide9.xml" Id="Rc0b6e76c711744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2287fd851946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73da33ad514ef1" /><Relationship Type="http://schemas.openxmlformats.org/officeDocument/2006/relationships/notesMaster" Target="/ppt/notesMasters/notesMaster1.xml" Id="R3a51b8e2b7c24f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ade34b191042a1" /><Relationship Type="http://schemas.openxmlformats.org/officeDocument/2006/relationships/notesMaster" Target="/ppt/notesMasters/notesMaster1.xml" Id="Rf52ebed705d34c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e0053adc9f4f2b" /><Relationship Type="http://schemas.openxmlformats.org/officeDocument/2006/relationships/notesMaster" Target="/ppt/notesMasters/notesMaster1.xml" Id="Rbbea1dc630224d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e5be29965742e8" /><Relationship Type="http://schemas.openxmlformats.org/officeDocument/2006/relationships/notesMaster" Target="/ppt/notesMasters/notesMaster1.xml" Id="R358452876acd42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bba2e9a3394f0d" /><Relationship Type="http://schemas.openxmlformats.org/officeDocument/2006/relationships/notesMaster" Target="/ppt/notesMasters/notesMaster1.xml" Id="R4c48b83a08654b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78badd00774150" /><Relationship Type="http://schemas.openxmlformats.org/officeDocument/2006/relationships/notesMaster" Target="/ppt/notesMasters/notesMaster1.xml" Id="R34c3c65bd6f44e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88d7d2af6e4254" /><Relationship Type="http://schemas.openxmlformats.org/officeDocument/2006/relationships/notesMaster" Target="/ppt/notesMasters/notesMaster1.xml" Id="R6b13b9668f134e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c137f8800b4a69" /><Relationship Type="http://schemas.openxmlformats.org/officeDocument/2006/relationships/notesMaster" Target="/ppt/notesMasters/notesMaster1.xml" Id="R90b5980a7d4f4e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94c883ff1f4f94" /><Relationship Type="http://schemas.openxmlformats.org/officeDocument/2006/relationships/notesMaster" Target="/ppt/notesMasters/notesMaster1.xml" Id="R942ca14810f142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My topic is mobile computer vision for helping older adults remember where everyday objects were last observed. The central example is a pair of glasses. I will review the research, explain the components of a proposed offline mobile design, and demonstrate the difference between physical reality and stored visual memory. The system described here is a proposal and a teaching simulation, not a validated assistive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Consider glasses observed on a side table at nine twelve. If someone moves them while the camera looks elsewhere, the record remains a valid description of that earlier sighting. It does not establish the current location. Recognition, identity matching, and episodic memory answer different questions. Ego4D's visual-query task uses an example image and returns a previous response track. Our proposed interface should show the evidence image, place, and timestamp.</a:t>
            </a:r>
          </a:p>
          <a:p xmlns:a="http://schemas.openxmlformats.org/drawingml/2006/main">
            <a:r>
              <a:t>Source [1]: https://ego4d-data.org/docs/benchmarks/episodic-memory/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[1:15–2:05] Camera observations first pass through object detection and identity matching. A tracker provides continuity across nearby frames, but a tracker ID is not automatically the identity of someone's personal object. Depth and camera pose provide geometry. The application stores a compact, dated observation with its map identifier and evidence. A later query checks identity, freshness, and alignment before calculating displacement. This arrangement draws on the idea of streaming object memory, while the particular threshold policy and application architecture are our teaching design. The website includes original Python code for update and retrieval.</a:t>
            </a:r>
          </a:p>
          <a:p xmlns:a="http://schemas.openxmlformats.org/drawingml/2006/main">
            <a:r>
              <a:t>Source [3]: https://arxiv.org/html/2411.16934v2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[2:05–2:55] Start with a calibrated image pixel and its depth along the optical axis. Inverse camera intrinsics produce a ray, and depth gives a camera-space point. Rotation and translation place it in a world coordinate system. The example uses a two meter depth and produces a camera-space point of point two, point one, and two meters. A one meter translation along x gives one point two, point one, and two. Watch the pose convention: world-to-camera and camera-to-world transforms are inverses. Finally, align the new session with the saved map before guidance. A precise-looking arrow is misleading if the maps do not agree.</a:t>
            </a:r>
          </a:p>
          <a:p xmlns:a="http://schemas.openxmlformats.org/drawingml/2006/main">
            <a:r>
              <a:t>Sources [4] https://arxiv.org/abs/2007.11898 ; [5] https://arxiv.org/abs/2212.06969 ; [6] https://developer.apple.com/documentation/arkit/saving-and-loading-world-data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[2:55–3:45] This chart compares two configurations from Table 1 of the July twenty twenty-five E SOM manuscript. The learned detection and tracking configuration achieves four point zero two percent success, while the oracle configuration reaches eighty-one point nine two percent. The oracle supplies idealized detection and tracking. It is not a mobile product result. Success here uses a low spatiotemporal overlap threshold with the response track, so it is not a household recovery rate. The gap directs attention to perception and identity failures. CocoFormer addresses query-conditioned detection, and EgoLoc addresses important three-dimensional geometry issues.</a:t>
            </a:r>
          </a:p>
          <a:p xmlns:a="http://schemas.openxmlformats.org/drawingml/2006/main">
            <a:r>
              <a:t>Source [3], Table 1, arXiv:2411.16934v2: https://arxiv.org/html/2411.16934v2</a:t>
            </a:r>
          </a:p>
          <a:p xmlns:a="http://schemas.openxmlformats.org/drawingml/2006/main">
            <a:r>
              <a:t>Source [2]: https://arxiv.org/html/2211.10528v2</a:t>
            </a:r>
          </a:p>
          <a:p xmlns:a="http://schemas.openxmlformats.org/drawingml/2006/main">
            <a:r>
              <a:t>Source [5]: https://arxiv.org/abs/2212.06969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[3:45–5:15] Switch from PowerPoint to the published GitHub Pages website. Show the introduction and persistent chapter navigation briefly, then open Interactive lab. Reset the demo. Move the glasses to the sofa with observation enabled and ask for the last-seen location. Now turn observation off and move them to the shelf. Query again and point out that memory still says sofa. Explain that the orange dot is teaching ground truth unavailable to a real assistant. Advance forty minutes to trigger a stale response. Reset, disable map alignment, and show that directional guidance is withheld. Briefly open Detect and remember to show the Python example, then Practice and References. Return to PowerPoint. This demonstration uses synthetic data and does not run a computer vision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[5:15–6:00] An enrolled object inventory allows a relatively simple retrieval interface. A local object picker or a small phrase parser can map a request to an object ID, without a large language model. Quantization can reduce model weight storage, but conversion needs accuracy checks and representative calibration data. Measure actual latency and thermal behavior on the target phone. The record should retain only selected evidence and include a deletion control. Local storage can still reveal private information about a home. Accessibility means readable text, large controls, replayable audio, and alternatives to augmented reality. The proposed system needs testing with intended users.</a:t>
            </a:r>
          </a:p>
          <a:p xmlns:a="http://schemas.openxmlformats.org/drawingml/2006/main">
            <a:r>
              <a:t>Sources [7]: https://developers.google.com/edge/litert/conversion/tensorflow/quantization/post_training_quantization ; [8]: https://www.w3.org/WAI/older-users/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[6:00–6:45] The camera can miss a move, confuse similar objects, or lose its map. Our response policy should expose these limits rather than turn every query into a confident answer. A pilot can use scripted observed and hidden moves in two rooms, with separate enrollment, tuning, and evaluation captures. Report correct last-seen retrieval, false confident answers, abstentions, relocalization success, and geometric errors. Include failures in the denominator. Future progress should improve identity stability, persistent mapping, and user control. The main conclusion is that visual memory can organize evidence, while uncertainty and time remain part of every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[6:45–7:15] The website's annotated bibliography includes eight distinct works, with title, author, date, synopsis, and reliability assessment. It links primary research, platform documentation, and accessibility guidance. The numerical E SOM result is explicitly versioned to the July twenty twenty-five manuscript. The figures and the simulation are original teaching materials. For further reading, compare how the papers define a query, what data each system may access, and how success is measured. Thank you.</a:t>
            </a:r>
          </a:p>
          <a:p xmlns:a="http://schemas.openxmlformats.org/drawingml/2006/main">
            <a:r>
              <a:t>[1] Grauman et al., Ego4D, CVPR 2022. https://ego4d-data.org/docs/benchmarks/episodic-memory/</a:t>
            </a:r>
          </a:p>
          <a:p xmlns:a="http://schemas.openxmlformats.org/drawingml/2006/main">
            <a:r>
              <a:t>[2] Xu et al., Where Is My Wallet?, CVPR 2023. https://arxiv.org/html/2211.10528v2</a:t>
            </a:r>
          </a:p>
          <a:p xmlns:a="http://schemas.openxmlformats.org/drawingml/2006/main">
            <a:r>
              <a:t>[3] Manigrasso et al., ESOM, WACV 2026; numerical source arXiv v2 2025. https://arxiv.org/html/2411.16934v2</a:t>
            </a:r>
          </a:p>
          <a:p xmlns:a="http://schemas.openxmlformats.org/drawingml/2006/main">
            <a:r>
              <a:t>[4] Campos et al., ORB-SLAM3, IEEE T-RO 2021. https://arxiv.org/abs/2007.11898</a:t>
            </a:r>
          </a:p>
          <a:p xmlns:a="http://schemas.openxmlformats.org/drawingml/2006/main">
            <a:r>
              <a:t>[5] Mai et al., EgoLoc, ICCV 2023. https://arxiv.org/abs/2212.06969</a:t>
            </a:r>
          </a:p>
          <a:p xmlns:a="http://schemas.openxmlformats.org/drawingml/2006/main">
            <a:r>
              <a:t>[6] Apple, Saving and loading world data. https://developer.apple.com/documentation/arkit/saving-and-loading-world-data</a:t>
            </a:r>
          </a:p>
          <a:p xmlns:a="http://schemas.openxmlformats.org/drawingml/2006/main">
            <a:r>
              <a:t>[7] Google AI Edge, Post-training quantization. https://developers.google.com/edge/litert/conversion/tensorflow/quantization/post_training_quantization</a:t>
            </a:r>
          </a:p>
          <a:p xmlns:a="http://schemas.openxmlformats.org/drawingml/2006/main">
            <a:r>
              <a:t>[8] W3C WAI, Older Users and Web Accessibility. https://www.w3.org/WAI/older-users/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16b1cf3ae942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f9b5f874a64d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8b8f848d824d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8eafc7c80246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08bee449d346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4942ee511141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F4CEC89-C1C0-4965-B325-768DBFFF103F}"/>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6A82945-FE6E-48F2-8C48-0B35A3BB10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30DA2A6-D5DC-44AD-BC0F-518737AD5D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618AA79-89BF-4CF1-8E4D-CCCCCE59D9A0}"/>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9BBB5B0-B5E9-45CC-A0B9-14A884454FB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F20D742-2093-4DBB-A9EB-9C26FB9BF33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95F8108-1811-42BE-ADB4-2D92604E7D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C176F2F-DC4F-46CB-B6E1-69B306E518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F2942E6-3053-4A52-A8D0-E739D141DB6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3738931-8F31-41C0-BC1D-38A76FB3DD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389BFC9-2202-4EE1-AFC7-25FEEF41CF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16A8862A-31F3-49F1-8385-2FC5100749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3BF59A8-CEB6-4C32-AB95-F3A33FBBCF0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B792868-C791-4EA7-AB1B-34B2BA2728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E6133B8-7AD6-42CA-B5F7-AF24425332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36a06a3f5348e6" /><Relationship Type="http://schemas.openxmlformats.org/officeDocument/2006/relationships/slideLayout" Target="/ppt/slideLayouts/slideLayout1.xml" Id="Rcfec3fc6e1a54ff3" /><Relationship Type="http://schemas.openxmlformats.org/officeDocument/2006/relationships/slideLayout" Target="/ppt/slideLayouts/slideLayout2.xml" Id="R74a59f824a4e4591" /><Relationship Type="http://schemas.openxmlformats.org/officeDocument/2006/relationships/slideLayout" Target="/ppt/slideLayouts/slideLayout3.xml" Id="R90ac20b64ad742f6" /><Relationship Type="http://schemas.openxmlformats.org/officeDocument/2006/relationships/slideLayout" Target="/ppt/slideLayouts/slideLayout4.xml" Id="R6d9ac11889b24621" /><Relationship Type="http://schemas.openxmlformats.org/officeDocument/2006/relationships/slideLayout" Target="/ppt/slideLayouts/slideLayout5.xml" Id="R6df005cb5aa74766" /><Relationship Type="http://schemas.openxmlformats.org/officeDocument/2006/relationships/slideLayout" Target="/ppt/slideLayouts/slideLayout6.xml" Id="Rae3cbe245f984a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ec3fc6e1a54ff3"/>
    <p:sldLayoutId xmlns:r="http://schemas.openxmlformats.org/officeDocument/2006/relationships" id="2147483650" r:id="R74a59f824a4e4591"/>
    <p:sldLayoutId xmlns:r="http://schemas.openxmlformats.org/officeDocument/2006/relationships" id="2147483651" r:id="R90ac20b64ad742f6"/>
    <p:sldLayoutId xmlns:r="http://schemas.openxmlformats.org/officeDocument/2006/relationships" id="2147483652" r:id="R6d9ac11889b24621"/>
    <p:sldLayoutId xmlns:r="http://schemas.openxmlformats.org/officeDocument/2006/relationships" id="2147483653" r:id="R6df005cb5aa74766"/>
    <p:sldLayoutId xmlns:r="http://schemas.openxmlformats.org/officeDocument/2006/relationships" id="2147483654" r:id="Rae3cbe245f984a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74692c0bbf4f51" /><Relationship Type="http://schemas.openxmlformats.org/officeDocument/2006/relationships/notesSlide" Target="/ppt/notesSlides/notesSlide1.xml" Id="R9ca80f4a3e5740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a5656053994c86" /><Relationship Type="http://schemas.openxmlformats.org/officeDocument/2006/relationships/image" Target="/ppt/media/image.png" Id="R0b3485ed22604b90" /><Relationship Type="http://schemas.openxmlformats.org/officeDocument/2006/relationships/notesSlide" Target="/ppt/notesSlides/notesSlide2.xml" Id="R961328fb4c7b46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1fbe7d59c044d3" /><Relationship Type="http://schemas.openxmlformats.org/officeDocument/2006/relationships/image" Target="/ppt/media/image2.png" Id="R68b7be082cf8409b" /><Relationship Type="http://schemas.openxmlformats.org/officeDocument/2006/relationships/notesSlide" Target="/ppt/notesSlides/notesSlide3.xml" Id="Rb5ec387156ab41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61edc5b9ac44c0" /><Relationship Type="http://schemas.openxmlformats.org/officeDocument/2006/relationships/image" Target="/ppt/media/image3.png" Id="R76bc17011068417d" /><Relationship Type="http://schemas.openxmlformats.org/officeDocument/2006/relationships/notesSlide" Target="/ppt/notesSlides/notesSlide4.xml" Id="R1964068c18e34b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53eb76761e4e59" /><Relationship Type="http://schemas.openxmlformats.org/officeDocument/2006/relationships/chart" Target="/ppt/slides/charts/chart1.xml" Id="Rad9ef25ef70d436b" /><Relationship Type="http://schemas.openxmlformats.org/officeDocument/2006/relationships/notesSlide" Target="/ppt/notesSlides/notesSlide5.xml" Id="R070c79f8f69143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dda4dfd4ae4def" /><Relationship Type="http://schemas.openxmlformats.org/officeDocument/2006/relationships/notesSlide" Target="/ppt/notesSlides/notesSlide6.xml" Id="R53967c08a7a547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5616b8e0314ec1" /><Relationship Type="http://schemas.openxmlformats.org/officeDocument/2006/relationships/notesSlide" Target="/ppt/notesSlides/notesSlide7.xml" Id="Rfdfc9d43a29d42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502696ecb394774" /><Relationship Type="http://schemas.openxmlformats.org/officeDocument/2006/relationships/notesSlide" Target="/ppt/notesSlides/notesSlide8.xml" Id="Rbcf764061eaf46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457fb266ae4f39" /><Relationship Type="http://schemas.openxmlformats.org/officeDocument/2006/relationships/notesSlide" Target="/ppt/notesSlides/notesSlide9.xml" Id="R1292015269e1452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c:v>
          </c:tx>
          <c:spPr>
            <a:solidFill xmlns:a="http://schemas.openxmlformats.org/drawingml/2006/main">
              <a:srgbClr val="006E78"/>
            </a:solidFill>
          </c:spPr>
          <c:dPt>
            <c:idx val="1"/>
            <c:invertIfNegative val="0"/>
            <c:spPr>
              <a:solidFill xmlns:a="http://schemas.openxmlformats.org/drawingml/2006/main">
                <a:srgbClr val="B5431B"/>
              </a:solidFill>
            </c:spPr>
          </c:dPt>
          <c:cat>
            <c:strRef>
              <c:f>'Chart Data'!$A$2:$A$3</c:f>
              <c:strCache>
                <c:ptCount val="2"/>
                <c:pt idx="0">
                  <c:v>Learned components</c:v>
                </c:pt>
                <c:pt idx="1">
                  <c:v>Oracle components</c:v>
                </c:pt>
              </c:strCache>
            </c:strRef>
          </c:cat>
          <c:val>
            <c:numRef>
              <c:f>'Chart Data'!$B$2:$B$3</c:f>
              <c:numCache>
                <c:formatCode>General</c:formatCode>
                <c:ptCount val="2"/>
                <c:pt idx="0">
                  <c:v>4.02</c:v>
                </c:pt>
                <c:pt idx="1">
                  <c:v>81.92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73247"/>
                  </a:solidFill>
                  <a:latin typeface="Aptos"/>
                  <a:ea typeface="Aptos"/>
                  <a:cs typeface="Aptos"/>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247"/>
                </a:solidFill>
                <a:latin typeface="Aptos"/>
                <a:ea typeface="Aptos"/>
                <a:cs typeface="Aptos"/>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a:latin typeface="Aptos"/>
                    <a:ea typeface="Aptos"/>
                    <a:cs typeface="Aptos"/>
                  </a:rPr>
                  <a:t>Benchmark success (%)</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977"/>
                </a:solidFill>
                <a:latin typeface="Aptos"/>
                <a:ea typeface="Aptos"/>
                <a:cs typeface="Aptos"/>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9109F3-77BC-4378-9B0D-3F5E38471D1C}"/>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CD8"/>
                </a:solidFill>
                <a:latin typeface="Aptos"/>
                <a:ea typeface="Aptos"/>
                <a:cs typeface="Aptos"/>
              </a:defRPr>
            </a:pPr>
            <a:r>
              <a:rPr sz="1275" b="0">
                <a:solidFill>
                  <a:srgbClr val="B8CCD8"/>
                </a:solidFill>
                <a:latin typeface="Aptos"/>
                <a:ea typeface="Aptos"/>
                <a:cs typeface="Aptos"/>
              </a:rPr>
              <a:t>01</a:t>
            </a:r>
          </a:p>
        </p:txBody>
      </p:sp>
      <p:sp>
        <p:nvSpPr>
          <p:cNvPr id="2" name="">
            <a:extLst xmlns:a="http://schemas.openxmlformats.org/drawingml/2006/main">
              <a:ext uri="{FF2B5EF4-FFF2-40B4-BE49-F238E27FC236}">
                <a16:creationId xmlns:a16="http://schemas.microsoft.com/office/drawing/2014/main" id="{053D8734-C828-4690-B320-8E63A4280D47}"/>
              </a:ext>
            </a:extLst>
          </p:cNvPr>
          <p:cNvSpPr>
            <a:spLocks xmlns:a="http://schemas.openxmlformats.org/drawingml/2006/main" noGrp="1"/>
          </p:cNvSpPr>
          <p:nvPr/>
        </p:nvSpPr>
        <p:spPr>
          <a:xfrm xmlns:a="http://schemas.openxmlformats.org/drawingml/2006/main">
            <a:off x="666750" y="1428750"/>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ptos"/>
                <a:ea typeface="Aptos"/>
                <a:cs typeface="Aptos"/>
              </a:defRPr>
            </a:pPr>
            <a:r>
              <a:rPr sz="5250" b="1">
                <a:solidFill>
                  <a:srgbClr val="FFFFFF"/>
                </a:solidFill>
                <a:latin typeface="Aptos"/>
                <a:ea typeface="Aptos"/>
                <a:cs typeface="Aptos"/>
              </a:rPr>
              <a:t>A visual memory</a:t>
            </a:r>
          </a:p>
          <a:p xmlns:a="http://schemas.openxmlformats.org/drawingml/2006/main">
            <a:pPr>
              <a:defRPr sz="5250" b="1">
                <a:solidFill>
                  <a:srgbClr val="FFFFFF"/>
                </a:solidFill>
                <a:latin typeface="Aptos"/>
                <a:ea typeface="Aptos"/>
                <a:cs typeface="Aptos"/>
              </a:defRPr>
            </a:pPr>
            <a:r>
              <a:rPr sz="5250" b="1">
                <a:solidFill>
                  <a:srgbClr val="FFFFFF"/>
                </a:solidFill>
                <a:latin typeface="Aptos"/>
                <a:ea typeface="Aptos"/>
                <a:cs typeface="Aptos"/>
              </a:rPr>
              <a:t>for everyday objects</a:t>
            </a:r>
          </a:p>
        </p:txBody>
      </p:sp>
      <p:sp>
        <p:nvSpPr>
          <p:cNvPr id="3" name="">
            <a:extLst xmlns:a="http://schemas.openxmlformats.org/drawingml/2006/main">
              <a:ext uri="{FF2B5EF4-FFF2-40B4-BE49-F238E27FC236}">
                <a16:creationId xmlns:a16="http://schemas.microsoft.com/office/drawing/2014/main" id="{383F719F-8E16-4134-8604-8BAEBEFF79D2}"/>
              </a:ext>
            </a:extLst>
          </p:cNvPr>
          <p:cNvSpPr>
            <a:spLocks xmlns:a="http://schemas.openxmlformats.org/drawingml/2006/main" noGrp="1"/>
          </p:cNvSpPr>
          <p:nvPr/>
        </p:nvSpPr>
        <p:spPr>
          <a:xfrm xmlns:a="http://schemas.openxmlformats.org/drawingml/2006/main">
            <a:off x="695325" y="3857625"/>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91D9D3"/>
                </a:solidFill>
                <a:latin typeface="Aptos"/>
                <a:ea typeface="Aptos"/>
                <a:cs typeface="Aptos"/>
              </a:defRPr>
            </a:pPr>
            <a:r>
              <a:rPr sz="2475" b="0">
                <a:solidFill>
                  <a:srgbClr val="91D9D3"/>
                </a:solidFill>
                <a:latin typeface="Aptos"/>
                <a:ea typeface="Aptos"/>
                <a:cs typeface="Aptos"/>
              </a:rPr>
              <a:t>Mobile computer vision and seniors</a:t>
            </a:r>
          </a:p>
        </p:txBody>
      </p:sp>
      <p:sp>
        <p:nvSpPr>
          <p:cNvPr id="4" name="">
            <a:extLst xmlns:a="http://schemas.openxmlformats.org/drawingml/2006/main">
              <a:ext uri="{FF2B5EF4-FFF2-40B4-BE49-F238E27FC236}">
                <a16:creationId xmlns:a16="http://schemas.microsoft.com/office/drawing/2014/main" id="{9D87100D-5D88-4A5A-A6EC-CB656F1CA449}"/>
              </a:ext>
            </a:extLst>
          </p:cNvPr>
          <p:cNvSpPr>
            <a:spLocks xmlns:a="http://schemas.openxmlformats.org/drawingml/2006/main" noGrp="1"/>
          </p:cNvSpPr>
          <p:nvPr/>
        </p:nvSpPr>
        <p:spPr>
          <a:xfrm xmlns:a="http://schemas.openxmlformats.org/drawingml/2006/main">
            <a:off x="695325" y="514350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CE9F0"/>
                </a:solidFill>
                <a:latin typeface="Aptos"/>
                <a:ea typeface="Aptos"/>
                <a:cs typeface="Aptos"/>
              </a:defRPr>
            </a:pPr>
            <a:r>
              <a:rPr sz="1950" b="0">
                <a:solidFill>
                  <a:srgbClr val="DCE9F0"/>
                </a:solidFill>
                <a:latin typeface="Aptos"/>
                <a:ea typeface="Aptos"/>
                <a:cs typeface="Aptos"/>
              </a:rPr>
              <a:t>Khagendra Khatri</a:t>
            </a:r>
          </a:p>
          <a:p xmlns:a="http://schemas.openxmlformats.org/drawingml/2006/main">
            <a:pPr>
              <a:defRPr sz="1950" b="0">
                <a:solidFill>
                  <a:srgbClr val="DCE9F0"/>
                </a:solidFill>
                <a:latin typeface="Aptos"/>
                <a:ea typeface="Aptos"/>
                <a:cs typeface="Aptos"/>
              </a:defRPr>
            </a:pPr>
            <a:r>
              <a:rPr sz="1950" b="0">
                <a:solidFill>
                  <a:srgbClr val="DCE9F0"/>
                </a:solidFill>
                <a:latin typeface="Aptos"/>
                <a:ea typeface="Aptos"/>
                <a:cs typeface="Aptos"/>
              </a:rPr>
              <a:t>CS663 · Project 1 · October 2026</a:t>
            </a:r>
          </a:p>
        </p:txBody>
      </p:sp>
    </p:spTree>
    <p:extLst>
      <p:ext uri="{BB962C8B-B14F-4D97-AF65-F5344CB8AC3E}">
        <p14:creationId xmlns:p14="http://schemas.microsoft.com/office/powerpoint/2010/main" val="9706077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2E7CA8-E3DF-4E99-B671-705CA1158765}"/>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The meaning of “last seen”</a:t>
            </a:r>
          </a:p>
        </p:txBody>
      </p:sp>
      <p:sp>
        <p:nvSpPr>
          <p:cNvPr id="2" name="">
            <a:extLst xmlns:a="http://schemas.openxmlformats.org/drawingml/2006/main">
              <a:ext uri="{FF2B5EF4-FFF2-40B4-BE49-F238E27FC236}">
                <a16:creationId xmlns:a16="http://schemas.microsoft.com/office/drawing/2014/main" id="{F02F6E48-DAFC-487A-8CEF-10273B017D30}"/>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b3485ed22604b90"/>
          <a:stretch xmlns:a="http://schemas.openxmlformats.org/drawingml/2006/main"/>
        </p:blipFill>
        <p:spPr>
          <a:xfrm xmlns:a="http://schemas.openxmlformats.org/drawingml/2006/main">
            <a:off x="1306286" y="1457325"/>
            <a:ext cx="9579429"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22CA32-F8F7-41E5-B535-163CB1E5E422}"/>
              </a:ext>
            </a:extLst>
          </p:cNvPr>
          <p:cNvSpPr>
            <a:spLocks xmlns:a="http://schemas.openxmlformats.org/drawingml/2006/main" noGrp="1"/>
          </p:cNvSpPr>
          <p:nvPr/>
        </p:nvSpPr>
        <p:spPr>
          <a:xfrm xmlns:a="http://schemas.openxmlformats.org/drawingml/2006/main">
            <a:off x="666750" y="58388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E78"/>
                </a:solidFill>
                <a:latin typeface="Aptos"/>
                <a:ea typeface="Aptos"/>
                <a:cs typeface="Aptos"/>
              </a:defRPr>
            </a:pPr>
            <a:r>
              <a:rPr sz="2025" b="1">
                <a:solidFill>
                  <a:srgbClr val="006E78"/>
                </a:solidFill>
                <a:latin typeface="Aptos"/>
                <a:ea typeface="Aptos"/>
                <a:cs typeface="Aptos"/>
              </a:rPr>
              <a:t>A dated observation supports the answer. Hidden movement remains unknown.</a:t>
            </a:r>
          </a:p>
        </p:txBody>
      </p:sp>
    </p:spTree>
    <p:extLst>
      <p:ext uri="{BB962C8B-B14F-4D97-AF65-F5344CB8AC3E}">
        <p14:creationId xmlns:p14="http://schemas.microsoft.com/office/powerpoint/2010/main" val="11267487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ACB772-E02A-427B-883D-904084F2513A}"/>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Proposed mobile pipeline</a:t>
            </a:r>
          </a:p>
        </p:txBody>
      </p:sp>
      <p:sp>
        <p:nvSpPr>
          <p:cNvPr id="2" name="">
            <a:extLst xmlns:a="http://schemas.openxmlformats.org/drawingml/2006/main">
              <a:ext uri="{FF2B5EF4-FFF2-40B4-BE49-F238E27FC236}">
                <a16:creationId xmlns:a16="http://schemas.microsoft.com/office/drawing/2014/main" id="{45284CFC-F35B-409D-87EC-66F6F113959B}"/>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8b7be082cf8409b"/>
          <a:stretch xmlns:a="http://schemas.openxmlformats.org/drawingml/2006/main"/>
        </p:blipFill>
        <p:spPr>
          <a:xfrm xmlns:a="http://schemas.openxmlformats.org/drawingml/2006/main">
            <a:off x="1175657" y="1466850"/>
            <a:ext cx="9840686" cy="4305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E09676-904B-4BE7-BAFF-D2023D3105BB}"/>
              </a:ext>
            </a:extLst>
          </p:cNvPr>
          <p:cNvSpPr>
            <a:spLocks xmlns:a="http://schemas.openxmlformats.org/drawingml/2006/main" noGrp="1"/>
          </p:cNvSpPr>
          <p:nvPr/>
        </p:nvSpPr>
        <p:spPr>
          <a:xfrm xmlns:a="http://schemas.openxmlformats.org/drawingml/2006/main">
            <a:off x="666750" y="592455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E78"/>
                </a:solidFill>
                <a:latin typeface="Aptos"/>
                <a:ea typeface="Aptos"/>
                <a:cs typeface="Aptos"/>
              </a:defRPr>
            </a:pPr>
            <a:r>
              <a:rPr sz="1950" b="1">
                <a:solidFill>
                  <a:srgbClr val="006E78"/>
                </a:solidFill>
                <a:latin typeface="Aptos"/>
                <a:ea typeface="Aptos"/>
                <a:cs typeface="Aptos"/>
              </a:rPr>
              <a:t>Memory record: identity, evidence, time, position, quality, map version</a:t>
            </a:r>
          </a:p>
        </p:txBody>
      </p:sp>
    </p:spTree>
    <p:extLst>
      <p:ext uri="{BB962C8B-B14F-4D97-AF65-F5344CB8AC3E}">
        <p14:creationId xmlns:p14="http://schemas.microsoft.com/office/powerpoint/2010/main" val="1059822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A175F5-8F60-4D88-AE8B-E19E274AD9ED}"/>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Pixel, depth, and camera pose</a:t>
            </a:r>
          </a:p>
        </p:txBody>
      </p:sp>
      <p:sp>
        <p:nvSpPr>
          <p:cNvPr id="2" name="">
            <a:extLst xmlns:a="http://schemas.openxmlformats.org/drawingml/2006/main">
              <a:ext uri="{FF2B5EF4-FFF2-40B4-BE49-F238E27FC236}">
                <a16:creationId xmlns:a16="http://schemas.microsoft.com/office/drawing/2014/main" id="{9673E73D-9647-46BF-AF9B-CD102B3D4893}"/>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6bc17011068417d"/>
          <a:stretch xmlns:a="http://schemas.openxmlformats.org/drawingml/2006/main"/>
        </p:blipFill>
        <p:spPr>
          <a:xfrm xmlns:a="http://schemas.openxmlformats.org/drawingml/2006/main">
            <a:off x="1360714" y="1476375"/>
            <a:ext cx="9470571"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0F46CD3-6168-4C32-85D2-2A002DDF35EB}"/>
              </a:ext>
            </a:extLst>
          </p:cNvPr>
          <p:cNvSpPr>
            <a:spLocks xmlns:a="http://schemas.openxmlformats.org/drawingml/2006/main" noGrp="1"/>
          </p:cNvSpPr>
          <p:nvPr/>
        </p:nvSpPr>
        <p:spPr>
          <a:xfrm xmlns:a="http://schemas.openxmlformats.org/drawingml/2006/main">
            <a:off x="666750" y="58388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E78"/>
                </a:solidFill>
                <a:latin typeface="Aptos"/>
                <a:ea typeface="Aptos"/>
                <a:cs typeface="Aptos"/>
              </a:defRPr>
            </a:pPr>
            <a:r>
              <a:rPr sz="2025" b="1">
                <a:solidFill>
                  <a:srgbClr val="006E78"/>
                </a:solidFill>
                <a:latin typeface="Aptos"/>
                <a:ea typeface="Aptos"/>
                <a:cs typeface="Aptos"/>
              </a:rPr>
              <a:t>Relocalization must restore the saved coordinate system before guidance.</a:t>
            </a:r>
          </a:p>
        </p:txBody>
      </p:sp>
    </p:spTree>
    <p:extLst>
      <p:ext uri="{BB962C8B-B14F-4D97-AF65-F5344CB8AC3E}">
        <p14:creationId xmlns:p14="http://schemas.microsoft.com/office/powerpoint/2010/main" val="9131924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ACD837-7FEE-49F3-BBA0-C8E402DDD963}"/>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Research results depend on assumptions</a:t>
            </a:r>
          </a:p>
        </p:txBody>
      </p:sp>
      <p:sp>
        <p:nvSpPr>
          <p:cNvPr id="2" name="">
            <a:extLst xmlns:a="http://schemas.openxmlformats.org/drawingml/2006/main">
              <a:ext uri="{FF2B5EF4-FFF2-40B4-BE49-F238E27FC236}">
                <a16:creationId xmlns:a16="http://schemas.microsoft.com/office/drawing/2014/main" id="{45978566-286C-4973-8247-0E3DB6F26580}"/>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05</a:t>
            </a:r>
          </a:p>
        </p:txBody>
      </p:sp>
      <p:graphicFrame>
        <p:nvGraphicFramePr>
          <p:cNvPr id="9" name="Chart"/>
          <p:cNvGraphicFramePr/>
          <p:nvPr/>
        </p:nvGraphicFramePr>
        <p:xfrm>
          <a:off xmlns:a="http://schemas.openxmlformats.org/drawingml/2006/main" x="609600" y="1524000"/>
          <a:ext xmlns:a="http://schemas.openxmlformats.org/drawingml/2006/main" cx="6762750" cy="3762375"/>
        </p:xfrm>
        <a:graphic xmlns:a="http://schemas.openxmlformats.org/drawingml/2006/main">
          <a:graphicData uri="http://schemas.openxmlformats.org/drawingml/2006/chart">
            <c:chart xmlns:r="http://schemas.openxmlformats.org/officeDocument/2006/relationships" xmlns:c="http://schemas.openxmlformats.org/drawingml/2006/chart" r:id="Rad9ef25ef70d436b"/>
          </a:graphicData>
        </a:graphic>
      </p:graphicFrame>
      <p:sp>
        <p:nvSpPr>
          <p:cNvPr id="4" name="">
            <a:extLst xmlns:a="http://schemas.openxmlformats.org/drawingml/2006/main">
              <a:ext uri="{FF2B5EF4-FFF2-40B4-BE49-F238E27FC236}">
                <a16:creationId xmlns:a16="http://schemas.microsoft.com/office/drawing/2014/main" id="{CAC53DB5-97FA-408A-AC18-C2E13207A482}"/>
              </a:ext>
            </a:extLst>
          </p:cNvPr>
          <p:cNvSpPr>
            <a:spLocks xmlns:a="http://schemas.openxmlformats.org/drawingml/2006/main" noGrp="1"/>
          </p:cNvSpPr>
          <p:nvPr/>
        </p:nvSpPr>
        <p:spPr>
          <a:xfrm xmlns:a="http://schemas.openxmlformats.org/drawingml/2006/main">
            <a:off x="7810500" y="1809750"/>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247"/>
                </a:solidFill>
                <a:latin typeface="Aptos"/>
                <a:ea typeface="Aptos"/>
                <a:cs typeface="Aptos"/>
              </a:defRPr>
            </a:pPr>
            <a:r>
              <a:rPr sz="2325" b="1">
                <a:solidFill>
                  <a:srgbClr val="173247"/>
                </a:solidFill>
                <a:latin typeface="Aptos"/>
                <a:ea typeface="Aptos"/>
                <a:cs typeface="Aptos"/>
              </a:rPr>
              <a:t>Oracle = idealized</a:t>
            </a:r>
          </a:p>
          <a:p xmlns:a="http://schemas.openxmlformats.org/drawingml/2006/main">
            <a:pPr>
              <a:defRPr sz="2325" b="1">
                <a:solidFill>
                  <a:srgbClr val="173247"/>
                </a:solidFill>
                <a:latin typeface="Aptos"/>
                <a:ea typeface="Aptos"/>
                <a:cs typeface="Aptos"/>
              </a:defRPr>
            </a:pPr>
            <a:r>
              <a:rPr sz="2325" b="1">
                <a:solidFill>
                  <a:srgbClr val="173247"/>
                </a:solidFill>
                <a:latin typeface="Aptos"/>
                <a:ea typeface="Aptos"/>
                <a:cs typeface="Aptos"/>
              </a:rPr>
              <a:t>detection + tracking</a:t>
            </a:r>
          </a:p>
        </p:txBody>
      </p:sp>
      <p:sp>
        <p:nvSpPr>
          <p:cNvPr id="5" name="">
            <a:extLst xmlns:a="http://schemas.openxmlformats.org/drawingml/2006/main">
              <a:ext uri="{FF2B5EF4-FFF2-40B4-BE49-F238E27FC236}">
                <a16:creationId xmlns:a16="http://schemas.microsoft.com/office/drawing/2014/main" id="{08780860-4B67-4FB5-B36A-C0F12B73941A}"/>
              </a:ext>
            </a:extLst>
          </p:cNvPr>
          <p:cNvSpPr>
            <a:spLocks xmlns:a="http://schemas.openxmlformats.org/drawingml/2006/main" noGrp="1"/>
          </p:cNvSpPr>
          <p:nvPr/>
        </p:nvSpPr>
        <p:spPr>
          <a:xfrm xmlns:a="http://schemas.openxmlformats.org/drawingml/2006/main">
            <a:off x="7810500" y="3371850"/>
            <a:ext cx="3476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36977"/>
                </a:solidFill>
                <a:latin typeface="Aptos"/>
                <a:ea typeface="Aptos"/>
                <a:cs typeface="Aptos"/>
              </a:defRPr>
            </a:pPr>
            <a:r>
              <a:rPr sz="2175" b="0">
                <a:solidFill>
                  <a:srgbClr val="536977"/>
                </a:solidFill>
                <a:latin typeface="Aptos"/>
                <a:ea typeface="Aptos"/>
                <a:cs typeface="Aptos"/>
              </a:rPr>
              <a:t>These results do not measure object recovery in seniors’ homes.</a:t>
            </a:r>
          </a:p>
        </p:txBody>
      </p:sp>
      <p:sp>
        <p:nvSpPr>
          <p:cNvPr id="6" name="">
            <a:extLst xmlns:a="http://schemas.openxmlformats.org/drawingml/2006/main">
              <a:ext uri="{FF2B5EF4-FFF2-40B4-BE49-F238E27FC236}">
                <a16:creationId xmlns:a16="http://schemas.microsoft.com/office/drawing/2014/main" id="{B49EBA89-BB54-41F7-B949-1488D70FCD6E}"/>
              </a:ext>
            </a:extLst>
          </p:cNvPr>
          <p:cNvSpPr>
            <a:spLocks xmlns:a="http://schemas.openxmlformats.org/drawingml/2006/main" noGrp="1"/>
          </p:cNvSpPr>
          <p:nvPr/>
        </p:nvSpPr>
        <p:spPr>
          <a:xfrm xmlns:a="http://schemas.openxmlformats.org/drawingml/2006/main">
            <a:off x="609600" y="5667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977"/>
                </a:solidFill>
                <a:latin typeface="Aptos"/>
                <a:ea typeface="Aptos"/>
                <a:cs typeface="Aptos"/>
              </a:defRPr>
            </a:pPr>
            <a:r>
              <a:rPr sz="1575" b="0">
                <a:solidFill>
                  <a:srgbClr val="536977"/>
                </a:solidFill>
                <a:latin typeface="Aptos"/>
                <a:ea typeface="Aptos"/>
                <a:cs typeface="Aptos"/>
              </a:rPr>
              <a:t>ESOM, arXiv v2 (July 2025), Table 1. Success requires ≥0.05 spatiotemporal IoU. [3]</a:t>
            </a:r>
          </a:p>
        </p:txBody>
      </p:sp>
    </p:spTree>
    <p:extLst>
      <p:ext uri="{BB962C8B-B14F-4D97-AF65-F5344CB8AC3E}">
        <p14:creationId xmlns:p14="http://schemas.microsoft.com/office/powerpoint/2010/main" val="18790498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57366F-1281-4239-936C-D89DFA0F6264}"/>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Live website demonstration</a:t>
            </a:r>
          </a:p>
        </p:txBody>
      </p:sp>
      <p:sp>
        <p:nvSpPr>
          <p:cNvPr id="2" name="">
            <a:extLst xmlns:a="http://schemas.openxmlformats.org/drawingml/2006/main">
              <a:ext uri="{FF2B5EF4-FFF2-40B4-BE49-F238E27FC236}">
                <a16:creationId xmlns:a16="http://schemas.microsoft.com/office/drawing/2014/main" id="{3CD9A4D8-83C1-4B1E-ACD3-6096091D7331}"/>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947DF098-F1D9-41DF-AAC4-BE5E94338131}"/>
              </a:ext>
            </a:extLst>
          </p:cNvPr>
          <p:cNvSpPr>
            <a:spLocks xmlns:a="http://schemas.openxmlformats.org/drawingml/2006/main" noGrp="1"/>
          </p:cNvSpPr>
          <p:nvPr/>
        </p:nvSpPr>
        <p:spPr>
          <a:xfrm xmlns:a="http://schemas.openxmlformats.org/drawingml/2006/main">
            <a:off x="666750" y="17145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6E78"/>
                </a:solidFill>
                <a:latin typeface="Aptos"/>
                <a:ea typeface="Aptos"/>
                <a:cs typeface="Aptos"/>
              </a:defRPr>
            </a:pPr>
            <a:r>
              <a:rPr sz="3150" b="1">
                <a:solidFill>
                  <a:srgbClr val="006E78"/>
                </a:solidFill>
                <a:latin typeface="Aptos"/>
                <a:ea typeface="Aptos"/>
                <a:cs typeface="Aptos"/>
              </a:rPr>
              <a:t>1</a:t>
            </a:r>
          </a:p>
        </p:txBody>
      </p:sp>
      <p:sp>
        <p:nvSpPr>
          <p:cNvPr id="4" name="">
            <a:extLst xmlns:a="http://schemas.openxmlformats.org/drawingml/2006/main">
              <a:ext uri="{FF2B5EF4-FFF2-40B4-BE49-F238E27FC236}">
                <a16:creationId xmlns:a16="http://schemas.microsoft.com/office/drawing/2014/main" id="{2DCB187B-9A49-47BC-AD78-30FC34A66C15}"/>
              </a:ext>
            </a:extLst>
          </p:cNvPr>
          <p:cNvSpPr>
            <a:spLocks xmlns:a="http://schemas.openxmlformats.org/drawingml/2006/main" noGrp="1"/>
          </p:cNvSpPr>
          <p:nvPr/>
        </p:nvSpPr>
        <p:spPr>
          <a:xfrm xmlns:a="http://schemas.openxmlformats.org/drawingml/2006/main">
            <a:off x="1619250" y="1714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247"/>
                </a:solidFill>
                <a:latin typeface="Aptos"/>
                <a:ea typeface="Aptos"/>
                <a:cs typeface="Aptos"/>
              </a:defRPr>
            </a:pPr>
            <a:r>
              <a:rPr sz="2700" b="1">
                <a:solidFill>
                  <a:srgbClr val="173247"/>
                </a:solidFill>
                <a:latin typeface="Aptos"/>
                <a:ea typeface="Aptos"/>
                <a:cs typeface="Aptos"/>
              </a:rPr>
              <a:t>Observe a move</a:t>
            </a:r>
          </a:p>
        </p:txBody>
      </p:sp>
      <p:sp>
        <p:nvSpPr>
          <p:cNvPr id="5" name="">
            <a:extLst xmlns:a="http://schemas.openxmlformats.org/drawingml/2006/main">
              <a:ext uri="{FF2B5EF4-FFF2-40B4-BE49-F238E27FC236}">
                <a16:creationId xmlns:a16="http://schemas.microsoft.com/office/drawing/2014/main" id="{6FBA4B7D-B5F7-4DBA-B881-7323BA4ED06B}"/>
              </a:ext>
            </a:extLst>
          </p:cNvPr>
          <p:cNvSpPr>
            <a:spLocks xmlns:a="http://schemas.openxmlformats.org/drawingml/2006/main" noGrp="1"/>
          </p:cNvSpPr>
          <p:nvPr/>
        </p:nvSpPr>
        <p:spPr>
          <a:xfrm xmlns:a="http://schemas.openxmlformats.org/drawingml/2006/main">
            <a:off x="1619250" y="22669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977"/>
                </a:solidFill>
                <a:latin typeface="Aptos"/>
                <a:ea typeface="Aptos"/>
                <a:cs typeface="Aptos"/>
              </a:defRPr>
            </a:pPr>
            <a:r>
              <a:rPr sz="2100" b="0">
                <a:solidFill>
                  <a:srgbClr val="536977"/>
                </a:solidFill>
                <a:latin typeface="Aptos"/>
                <a:ea typeface="Aptos"/>
                <a:cs typeface="Aptos"/>
              </a:rPr>
              <a:t>Glasses move to the sofa. Memory updates.</a:t>
            </a:r>
          </a:p>
        </p:txBody>
      </p:sp>
      <p:sp>
        <p:nvSpPr>
          <p:cNvPr id="6" name="">
            <a:extLst xmlns:a="http://schemas.openxmlformats.org/drawingml/2006/main">
              <a:ext uri="{FF2B5EF4-FFF2-40B4-BE49-F238E27FC236}">
                <a16:creationId xmlns:a16="http://schemas.microsoft.com/office/drawing/2014/main" id="{3EA5695A-C335-4A44-B1FF-5D7954148EAD}"/>
              </a:ext>
            </a:extLst>
          </p:cNvPr>
          <p:cNvSpPr>
            <a:spLocks xmlns:a="http://schemas.openxmlformats.org/drawingml/2006/main" noGrp="1"/>
          </p:cNvSpPr>
          <p:nvPr/>
        </p:nvSpPr>
        <p:spPr>
          <a:xfrm xmlns:a="http://schemas.openxmlformats.org/drawingml/2006/main">
            <a:off x="666750" y="30956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6E78"/>
                </a:solidFill>
                <a:latin typeface="Aptos"/>
                <a:ea typeface="Aptos"/>
                <a:cs typeface="Aptos"/>
              </a:defRPr>
            </a:pPr>
            <a:r>
              <a:rPr sz="3150" b="1">
                <a:solidFill>
                  <a:srgbClr val="006E78"/>
                </a:solidFill>
                <a:latin typeface="Aptos"/>
                <a:ea typeface="Aptos"/>
                <a:cs typeface="Aptos"/>
              </a:rPr>
              <a:t>2</a:t>
            </a:r>
          </a:p>
        </p:txBody>
      </p:sp>
      <p:sp>
        <p:nvSpPr>
          <p:cNvPr id="7" name="">
            <a:extLst xmlns:a="http://schemas.openxmlformats.org/drawingml/2006/main">
              <a:ext uri="{FF2B5EF4-FFF2-40B4-BE49-F238E27FC236}">
                <a16:creationId xmlns:a16="http://schemas.microsoft.com/office/drawing/2014/main" id="{20B4E3D5-4C03-460D-9835-C4D51C14204D}"/>
              </a:ext>
            </a:extLst>
          </p:cNvPr>
          <p:cNvSpPr>
            <a:spLocks xmlns:a="http://schemas.openxmlformats.org/drawingml/2006/main" noGrp="1"/>
          </p:cNvSpPr>
          <p:nvPr/>
        </p:nvSpPr>
        <p:spPr>
          <a:xfrm xmlns:a="http://schemas.openxmlformats.org/drawingml/2006/main">
            <a:off x="1619250" y="3095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247"/>
                </a:solidFill>
                <a:latin typeface="Aptos"/>
                <a:ea typeface="Aptos"/>
                <a:cs typeface="Aptos"/>
              </a:defRPr>
            </a:pPr>
            <a:r>
              <a:rPr sz="2700" b="1">
                <a:solidFill>
                  <a:srgbClr val="173247"/>
                </a:solidFill>
                <a:latin typeface="Aptos"/>
                <a:ea typeface="Aptos"/>
                <a:cs typeface="Aptos"/>
              </a:rPr>
              <a:t>Hide a move</a:t>
            </a:r>
          </a:p>
        </p:txBody>
      </p:sp>
      <p:sp>
        <p:nvSpPr>
          <p:cNvPr id="8" name="">
            <a:extLst xmlns:a="http://schemas.openxmlformats.org/drawingml/2006/main">
              <a:ext uri="{FF2B5EF4-FFF2-40B4-BE49-F238E27FC236}">
                <a16:creationId xmlns:a16="http://schemas.microsoft.com/office/drawing/2014/main" id="{493F9385-F798-4844-B20C-CDC523E4A449}"/>
              </a:ext>
            </a:extLst>
          </p:cNvPr>
          <p:cNvSpPr>
            <a:spLocks xmlns:a="http://schemas.openxmlformats.org/drawingml/2006/main" noGrp="1"/>
          </p:cNvSpPr>
          <p:nvPr/>
        </p:nvSpPr>
        <p:spPr>
          <a:xfrm xmlns:a="http://schemas.openxmlformats.org/drawingml/2006/main">
            <a:off x="1619250" y="364807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977"/>
                </a:solidFill>
                <a:latin typeface="Aptos"/>
                <a:ea typeface="Aptos"/>
                <a:cs typeface="Aptos"/>
              </a:defRPr>
            </a:pPr>
            <a:r>
              <a:rPr sz="2100" b="0">
                <a:solidFill>
                  <a:srgbClr val="536977"/>
                </a:solidFill>
                <a:latin typeface="Aptos"/>
                <a:ea typeface="Aptos"/>
                <a:cs typeface="Aptos"/>
              </a:rPr>
              <a:t>Glasses move to the shelf. Memory still says sofa.</a:t>
            </a:r>
          </a:p>
        </p:txBody>
      </p:sp>
      <p:sp>
        <p:nvSpPr>
          <p:cNvPr id="9" name="">
            <a:extLst xmlns:a="http://schemas.openxmlformats.org/drawingml/2006/main">
              <a:ext uri="{FF2B5EF4-FFF2-40B4-BE49-F238E27FC236}">
                <a16:creationId xmlns:a16="http://schemas.microsoft.com/office/drawing/2014/main" id="{3E1C1312-0B1D-4FCB-83FD-C8204BA9708E}"/>
              </a:ext>
            </a:extLst>
          </p:cNvPr>
          <p:cNvSpPr>
            <a:spLocks xmlns:a="http://schemas.openxmlformats.org/drawingml/2006/main" noGrp="1"/>
          </p:cNvSpPr>
          <p:nvPr/>
        </p:nvSpPr>
        <p:spPr>
          <a:xfrm xmlns:a="http://schemas.openxmlformats.org/drawingml/2006/main">
            <a:off x="666750" y="4476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6E78"/>
                </a:solidFill>
                <a:latin typeface="Aptos"/>
                <a:ea typeface="Aptos"/>
                <a:cs typeface="Aptos"/>
              </a:defRPr>
            </a:pPr>
            <a:r>
              <a:rPr sz="3150" b="1">
                <a:solidFill>
                  <a:srgbClr val="006E78"/>
                </a:solidFill>
                <a:latin typeface="Aptos"/>
                <a:ea typeface="Aptos"/>
                <a:cs typeface="Aptos"/>
              </a:rPr>
              <a:t>3</a:t>
            </a:r>
          </a:p>
        </p:txBody>
      </p:sp>
      <p:sp>
        <p:nvSpPr>
          <p:cNvPr id="10" name="">
            <a:extLst xmlns:a="http://schemas.openxmlformats.org/drawingml/2006/main">
              <a:ext uri="{FF2B5EF4-FFF2-40B4-BE49-F238E27FC236}">
                <a16:creationId xmlns:a16="http://schemas.microsoft.com/office/drawing/2014/main" id="{6F3A6FC7-7CFE-4B65-990C-FE33B2B99CD4}"/>
              </a:ext>
            </a:extLst>
          </p:cNvPr>
          <p:cNvSpPr>
            <a:spLocks xmlns:a="http://schemas.openxmlformats.org/drawingml/2006/main" noGrp="1"/>
          </p:cNvSpPr>
          <p:nvPr/>
        </p:nvSpPr>
        <p:spPr>
          <a:xfrm xmlns:a="http://schemas.openxmlformats.org/drawingml/2006/main">
            <a:off x="1619250" y="44767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247"/>
                </a:solidFill>
                <a:latin typeface="Aptos"/>
                <a:ea typeface="Aptos"/>
                <a:cs typeface="Aptos"/>
              </a:defRPr>
            </a:pPr>
            <a:r>
              <a:rPr sz="2700" b="1">
                <a:solidFill>
                  <a:srgbClr val="173247"/>
                </a:solidFill>
                <a:latin typeface="Aptos"/>
                <a:ea typeface="Aptos"/>
                <a:cs typeface="Aptos"/>
              </a:rPr>
              <a:t>Break the alignment or age the record</a:t>
            </a:r>
          </a:p>
        </p:txBody>
      </p:sp>
      <p:sp>
        <p:nvSpPr>
          <p:cNvPr id="11" name="">
            <a:extLst xmlns:a="http://schemas.openxmlformats.org/drawingml/2006/main">
              <a:ext uri="{FF2B5EF4-FFF2-40B4-BE49-F238E27FC236}">
                <a16:creationId xmlns:a16="http://schemas.microsoft.com/office/drawing/2014/main" id="{F8A95ACA-58A5-4BAE-B925-DF20CCA4A82F}"/>
              </a:ext>
            </a:extLst>
          </p:cNvPr>
          <p:cNvSpPr>
            <a:spLocks xmlns:a="http://schemas.openxmlformats.org/drawingml/2006/main" noGrp="1"/>
          </p:cNvSpPr>
          <p:nvPr/>
        </p:nvSpPr>
        <p:spPr>
          <a:xfrm xmlns:a="http://schemas.openxmlformats.org/drawingml/2006/main">
            <a:off x="1619250" y="50292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977"/>
                </a:solidFill>
                <a:latin typeface="Aptos"/>
                <a:ea typeface="Aptos"/>
                <a:cs typeface="Aptos"/>
              </a:defRPr>
            </a:pPr>
            <a:r>
              <a:rPr sz="2100" b="0">
                <a:solidFill>
                  <a:srgbClr val="536977"/>
                </a:solidFill>
                <a:latin typeface="Aptos"/>
                <a:ea typeface="Aptos"/>
                <a:cs typeface="Aptos"/>
              </a:rPr>
              <a:t>The answer retains history and withholds precise guidance.</a:t>
            </a:r>
          </a:p>
        </p:txBody>
      </p:sp>
      <p:sp>
        <p:nvSpPr>
          <p:cNvPr id="12" name="">
            <a:extLst xmlns:a="http://schemas.openxmlformats.org/drawingml/2006/main">
              <a:ext uri="{FF2B5EF4-FFF2-40B4-BE49-F238E27FC236}">
                <a16:creationId xmlns:a16="http://schemas.microsoft.com/office/drawing/2014/main" id="{134F8B0A-84C4-469C-9467-407816C4BABA}"/>
              </a:ext>
            </a:extLst>
          </p:cNvPr>
          <p:cNvSpPr>
            <a:spLocks xmlns:a="http://schemas.openxmlformats.org/drawingml/2006/main" noGrp="1"/>
          </p:cNvSpPr>
          <p:nvPr/>
        </p:nvSpPr>
        <p:spPr>
          <a:xfrm xmlns:a="http://schemas.openxmlformats.org/drawingml/2006/main">
            <a:off x="666750" y="60293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6E78"/>
                </a:solidFill>
                <a:latin typeface="Aptos"/>
                <a:ea typeface="Aptos"/>
                <a:cs typeface="Aptos"/>
              </a:defRPr>
            </a:pPr>
            <a:r>
              <a:rPr sz="1650" b="0">
                <a:solidFill>
                  <a:srgbClr val="006E78"/>
                </a:solidFill>
                <a:latin typeface="Aptos"/>
                <a:ea typeface="Aptos"/>
                <a:cs typeface="Aptos"/>
              </a:rPr>
              <a:t>Website chapter 5: Interactive lab · synthetic observations</a:t>
            </a:r>
          </a:p>
        </p:txBody>
      </p:sp>
    </p:spTree>
    <p:extLst>
      <p:ext uri="{BB962C8B-B14F-4D97-AF65-F5344CB8AC3E}">
        <p14:creationId xmlns:p14="http://schemas.microsoft.com/office/powerpoint/2010/main" val="1736738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089BBC-DDFB-46D5-8F42-6B05107A1A14}"/>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Offline mobile design</a:t>
            </a:r>
          </a:p>
        </p:txBody>
      </p:sp>
      <p:sp>
        <p:nvSpPr>
          <p:cNvPr id="2" name="">
            <a:extLst xmlns:a="http://schemas.openxmlformats.org/drawingml/2006/main">
              <a:ext uri="{FF2B5EF4-FFF2-40B4-BE49-F238E27FC236}">
                <a16:creationId xmlns:a16="http://schemas.microsoft.com/office/drawing/2014/main" id="{C1A682F9-EE71-491A-92B3-8F132A717938}"/>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12EBEFA9-8D07-40FA-B8F1-039D3102DE8D}"/>
              </a:ext>
            </a:extLst>
          </p:cNvPr>
          <p:cNvSpPr>
            <a:spLocks xmlns:a="http://schemas.openxmlformats.org/drawingml/2006/main" noGrp="1"/>
          </p:cNvSpPr>
          <p:nvPr/>
        </p:nvSpPr>
        <p:spPr>
          <a:xfrm xmlns:a="http://schemas.openxmlformats.org/drawingml/2006/main">
            <a:off x="666750" y="17145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E78"/>
                </a:solidFill>
                <a:latin typeface="Aptos"/>
                <a:ea typeface="Aptos"/>
                <a:cs typeface="Aptos"/>
              </a:defRPr>
            </a:pPr>
            <a:r>
              <a:rPr sz="2550" b="1">
                <a:solidFill>
                  <a:srgbClr val="006E78"/>
                </a:solidFill>
                <a:latin typeface="Aptos"/>
                <a:ea typeface="Aptos"/>
                <a:cs typeface="Aptos"/>
              </a:rPr>
              <a:t>Small, enrolled inventory</a:t>
            </a:r>
          </a:p>
        </p:txBody>
      </p:sp>
      <p:sp>
        <p:nvSpPr>
          <p:cNvPr id="4" name="">
            <a:extLst xmlns:a="http://schemas.openxmlformats.org/drawingml/2006/main">
              <a:ext uri="{FF2B5EF4-FFF2-40B4-BE49-F238E27FC236}">
                <a16:creationId xmlns:a16="http://schemas.microsoft.com/office/drawing/2014/main" id="{A9548D30-D5AE-4194-AA3F-52DCE03FD8DF}"/>
              </a:ext>
            </a:extLst>
          </p:cNvPr>
          <p:cNvSpPr>
            <a:spLocks xmlns:a="http://schemas.openxmlformats.org/drawingml/2006/main" noGrp="1"/>
          </p:cNvSpPr>
          <p:nvPr/>
        </p:nvSpPr>
        <p:spPr>
          <a:xfrm xmlns:a="http://schemas.openxmlformats.org/drawingml/2006/main">
            <a:off x="666750" y="2476500"/>
            <a:ext cx="5334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7"/>
                </a:solidFill>
                <a:latin typeface="Aptos"/>
                <a:ea typeface="Aptos"/>
                <a:cs typeface="Aptos"/>
              </a:defRPr>
            </a:pPr>
            <a:r>
              <a:rPr sz="2175" b="0">
                <a:solidFill>
                  <a:srgbClr val="173247"/>
                </a:solidFill>
                <a:latin typeface="Aptos"/>
                <a:ea typeface="Aptos"/>
                <a:cs typeface="Aptos"/>
              </a:rPr>
              <a:t>Detector + appearance matching</a:t>
            </a:r>
          </a:p>
          <a:p xmlns:a="http://schemas.openxmlformats.org/drawingml/2006/main">
            <a:pPr>
              <a:defRPr sz="2175" b="0">
                <a:solidFill>
                  <a:srgbClr val="173247"/>
                </a:solidFill>
                <a:latin typeface="Aptos"/>
                <a:ea typeface="Aptos"/>
                <a:cs typeface="Aptos"/>
              </a:defRPr>
            </a:pPr>
            <a:r>
              <a:rPr sz="2175" b="0">
                <a:solidFill>
                  <a:srgbClr val="173247"/>
                </a:solidFill>
                <a:latin typeface="Aptos"/>
                <a:ea typeface="Aptos"/>
                <a:cs typeface="Aptos"/>
              </a:rPr>
              <a:t>Simple name-to-object lookup</a:t>
            </a:r>
          </a:p>
          <a:p xmlns:a="http://schemas.openxmlformats.org/drawingml/2006/main">
            <a:pPr>
              <a:defRPr sz="2175" b="0">
                <a:solidFill>
                  <a:srgbClr val="173247"/>
                </a:solidFill>
                <a:latin typeface="Aptos"/>
                <a:ea typeface="Aptos"/>
                <a:cs typeface="Aptos"/>
              </a:defRPr>
            </a:pPr>
            <a:r>
              <a:rPr sz="2175" b="0">
                <a:solidFill>
                  <a:srgbClr val="173247"/>
                </a:solidFill>
                <a:latin typeface="Aptos"/>
                <a:ea typeface="Aptos"/>
                <a:cs typeface="Aptos"/>
              </a:rPr>
              <a:t>Geometry after relocalization</a:t>
            </a:r>
          </a:p>
        </p:txBody>
      </p:sp>
      <p:sp>
        <p:nvSpPr>
          <p:cNvPr id="5" name="">
            <a:extLst xmlns:a="http://schemas.openxmlformats.org/drawingml/2006/main">
              <a:ext uri="{FF2B5EF4-FFF2-40B4-BE49-F238E27FC236}">
                <a16:creationId xmlns:a16="http://schemas.microsoft.com/office/drawing/2014/main" id="{7B361EED-C6D1-47AF-976B-3BA4BAB645EE}"/>
              </a:ext>
            </a:extLst>
          </p:cNvPr>
          <p:cNvSpPr>
            <a:spLocks xmlns:a="http://schemas.openxmlformats.org/drawingml/2006/main" noGrp="1"/>
          </p:cNvSpPr>
          <p:nvPr/>
        </p:nvSpPr>
        <p:spPr>
          <a:xfrm xmlns:a="http://schemas.openxmlformats.org/drawingml/2006/main">
            <a:off x="6524625" y="1714500"/>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E78"/>
                </a:solidFill>
                <a:latin typeface="Aptos"/>
                <a:ea typeface="Aptos"/>
                <a:cs typeface="Aptos"/>
              </a:defRPr>
            </a:pPr>
            <a:r>
              <a:rPr sz="2550" b="1">
                <a:solidFill>
                  <a:srgbClr val="006E78"/>
                </a:solidFill>
                <a:latin typeface="Aptos"/>
                <a:ea typeface="Aptos"/>
                <a:cs typeface="Aptos"/>
              </a:rPr>
              <a:t>Device and user constraints</a:t>
            </a:r>
          </a:p>
        </p:txBody>
      </p:sp>
      <p:sp>
        <p:nvSpPr>
          <p:cNvPr id="6" name="">
            <a:extLst xmlns:a="http://schemas.openxmlformats.org/drawingml/2006/main">
              <a:ext uri="{FF2B5EF4-FFF2-40B4-BE49-F238E27FC236}">
                <a16:creationId xmlns:a16="http://schemas.microsoft.com/office/drawing/2014/main" id="{085CA45E-E7B0-4A27-BEEF-1C4572A6DFF7}"/>
              </a:ext>
            </a:extLst>
          </p:cNvPr>
          <p:cNvSpPr>
            <a:spLocks xmlns:a="http://schemas.openxmlformats.org/drawingml/2006/main" noGrp="1"/>
          </p:cNvSpPr>
          <p:nvPr/>
        </p:nvSpPr>
        <p:spPr>
          <a:xfrm xmlns:a="http://schemas.openxmlformats.org/drawingml/2006/main">
            <a:off x="6524625" y="247650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7"/>
                </a:solidFill>
                <a:latin typeface="Aptos"/>
                <a:ea typeface="Aptos"/>
                <a:cs typeface="Aptos"/>
              </a:defRPr>
            </a:pPr>
            <a:r>
              <a:rPr sz="2175" b="0">
                <a:solidFill>
                  <a:srgbClr val="173247"/>
                </a:solidFill>
                <a:latin typeface="Aptos"/>
                <a:ea typeface="Aptos"/>
                <a:cs typeface="Aptos"/>
              </a:rPr>
              <a:t>Measure latency and battery use</a:t>
            </a:r>
          </a:p>
          <a:p xmlns:a="http://schemas.openxmlformats.org/drawingml/2006/main">
            <a:pPr>
              <a:defRPr sz="2175" b="0">
                <a:solidFill>
                  <a:srgbClr val="173247"/>
                </a:solidFill>
                <a:latin typeface="Aptos"/>
                <a:ea typeface="Aptos"/>
                <a:cs typeface="Aptos"/>
              </a:defRPr>
            </a:pPr>
            <a:r>
              <a:rPr sz="2175" b="0">
                <a:solidFill>
                  <a:srgbClr val="173247"/>
                </a:solidFill>
                <a:latin typeface="Aptos"/>
                <a:ea typeface="Aptos"/>
                <a:cs typeface="Aptos"/>
              </a:rPr>
              <a:t>Protect and delete local evidence</a:t>
            </a:r>
          </a:p>
          <a:p xmlns:a="http://schemas.openxmlformats.org/drawingml/2006/main">
            <a:pPr>
              <a:defRPr sz="2175" b="0">
                <a:solidFill>
                  <a:srgbClr val="173247"/>
                </a:solidFill>
                <a:latin typeface="Aptos"/>
                <a:ea typeface="Aptos"/>
                <a:cs typeface="Aptos"/>
              </a:defRPr>
            </a:pPr>
            <a:r>
              <a:rPr sz="2175" b="0">
                <a:solidFill>
                  <a:srgbClr val="173247"/>
                </a:solidFill>
                <a:latin typeface="Aptos"/>
                <a:ea typeface="Aptos"/>
                <a:cs typeface="Aptos"/>
              </a:rPr>
              <a:t>Offer text, speech, and images</a:t>
            </a:r>
          </a:p>
        </p:txBody>
      </p:sp>
      <p:sp>
        <p:nvSpPr>
          <p:cNvPr id="7" name="">
            <a:extLst xmlns:a="http://schemas.openxmlformats.org/drawingml/2006/main">
              <a:ext uri="{FF2B5EF4-FFF2-40B4-BE49-F238E27FC236}">
                <a16:creationId xmlns:a16="http://schemas.microsoft.com/office/drawing/2014/main" id="{E575FB90-BBE4-4F2A-B782-629F9E016EB4}"/>
              </a:ext>
            </a:extLst>
          </p:cNvPr>
          <p:cNvSpPr>
            <a:spLocks xmlns:a="http://schemas.openxmlformats.org/drawingml/2006/main" noGrp="1"/>
          </p:cNvSpPr>
          <p:nvPr/>
        </p:nvSpPr>
        <p:spPr>
          <a:xfrm xmlns:a="http://schemas.openxmlformats.org/drawingml/2006/main">
            <a:off x="666750" y="5562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77"/>
                </a:solidFill>
                <a:latin typeface="Aptos"/>
                <a:ea typeface="Aptos"/>
                <a:cs typeface="Aptos"/>
              </a:defRPr>
            </a:pPr>
            <a:r>
              <a:rPr sz="2025" b="0">
                <a:solidFill>
                  <a:srgbClr val="536977"/>
                </a:solidFill>
                <a:latin typeface="Aptos"/>
                <a:ea typeface="Aptos"/>
                <a:cs typeface="Aptos"/>
              </a:rPr>
              <a:t>INT8 reduces weight bytes; it does not guarantee application speed. [7]</a:t>
            </a:r>
          </a:p>
        </p:txBody>
      </p:sp>
    </p:spTree>
    <p:extLst>
      <p:ext uri="{BB962C8B-B14F-4D97-AF65-F5344CB8AC3E}">
        <p14:creationId xmlns:p14="http://schemas.microsoft.com/office/powerpoint/2010/main" val="17361070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AFD7FA-EB9A-41E3-A325-3DBABEA244B0}"/>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Limits and evaluation</a:t>
            </a:r>
          </a:p>
        </p:txBody>
      </p:sp>
      <p:sp>
        <p:nvSpPr>
          <p:cNvPr id="2" name="">
            <a:extLst xmlns:a="http://schemas.openxmlformats.org/drawingml/2006/main">
              <a:ext uri="{FF2B5EF4-FFF2-40B4-BE49-F238E27FC236}">
                <a16:creationId xmlns:a16="http://schemas.microsoft.com/office/drawing/2014/main" id="{2FA95CBA-7094-4B35-930F-B24B1D80877A}"/>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28186369-85D7-428B-8CE2-8F1C0E44056D}"/>
              </a:ext>
            </a:extLst>
          </p:cNvPr>
          <p:cNvSpPr>
            <a:spLocks xmlns:a="http://schemas.openxmlformats.org/drawingml/2006/main" noGrp="1"/>
          </p:cNvSpPr>
          <p:nvPr/>
        </p:nvSpPr>
        <p:spPr>
          <a:xfrm xmlns:a="http://schemas.openxmlformats.org/drawingml/2006/main">
            <a:off x="666750" y="17335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E78"/>
                </a:solidFill>
                <a:latin typeface="Aptos"/>
                <a:ea typeface="Aptos"/>
                <a:cs typeface="Aptos"/>
              </a:defRPr>
            </a:pPr>
            <a:r>
              <a:rPr sz="2625" b="1">
                <a:solidFill>
                  <a:srgbClr val="006E78"/>
                </a:solidFill>
                <a:latin typeface="Aptos"/>
                <a:ea typeface="Aptos"/>
                <a:cs typeface="Aptos"/>
              </a:rPr>
              <a:t>Failure modes</a:t>
            </a:r>
          </a:p>
        </p:txBody>
      </p:sp>
      <p:sp>
        <p:nvSpPr>
          <p:cNvPr id="4" name="">
            <a:extLst xmlns:a="http://schemas.openxmlformats.org/drawingml/2006/main">
              <a:ext uri="{FF2B5EF4-FFF2-40B4-BE49-F238E27FC236}">
                <a16:creationId xmlns:a16="http://schemas.microsoft.com/office/drawing/2014/main" id="{BCF7428D-5E0B-4F9D-A446-385BFE7A6314}"/>
              </a:ext>
            </a:extLst>
          </p:cNvPr>
          <p:cNvSpPr>
            <a:spLocks xmlns:a="http://schemas.openxmlformats.org/drawingml/2006/main" noGrp="1"/>
          </p:cNvSpPr>
          <p:nvPr/>
        </p:nvSpPr>
        <p:spPr>
          <a:xfrm xmlns:a="http://schemas.openxmlformats.org/drawingml/2006/main">
            <a:off x="666750" y="24955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Unseen movement</a:t>
            </a:r>
          </a:p>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Occlusion and similar objects</a:t>
            </a:r>
          </a:p>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Map drift and session changes</a:t>
            </a:r>
          </a:p>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Mobile resource limits</a:t>
            </a:r>
          </a:p>
        </p:txBody>
      </p:sp>
      <p:sp>
        <p:nvSpPr>
          <p:cNvPr id="5" name="">
            <a:extLst xmlns:a="http://schemas.openxmlformats.org/drawingml/2006/main">
              <a:ext uri="{FF2B5EF4-FFF2-40B4-BE49-F238E27FC236}">
                <a16:creationId xmlns:a16="http://schemas.microsoft.com/office/drawing/2014/main" id="{C26DBA50-C0F2-4C59-B85D-A06EA85F4C2A}"/>
              </a:ext>
            </a:extLst>
          </p:cNvPr>
          <p:cNvSpPr>
            <a:spLocks xmlns:a="http://schemas.openxmlformats.org/drawingml/2006/main" noGrp="1"/>
          </p:cNvSpPr>
          <p:nvPr/>
        </p:nvSpPr>
        <p:spPr>
          <a:xfrm xmlns:a="http://schemas.openxmlformats.org/drawingml/2006/main">
            <a:off x="6572250" y="17335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E78"/>
                </a:solidFill>
                <a:latin typeface="Aptos"/>
                <a:ea typeface="Aptos"/>
                <a:cs typeface="Aptos"/>
              </a:defRPr>
            </a:pPr>
            <a:r>
              <a:rPr sz="2625" b="1">
                <a:solidFill>
                  <a:srgbClr val="006E78"/>
                </a:solidFill>
                <a:latin typeface="Aptos"/>
                <a:ea typeface="Aptos"/>
                <a:cs typeface="Aptos"/>
              </a:rPr>
              <a:t>Evaluation</a:t>
            </a:r>
          </a:p>
        </p:txBody>
      </p:sp>
      <p:sp>
        <p:nvSpPr>
          <p:cNvPr id="6" name="">
            <a:extLst xmlns:a="http://schemas.openxmlformats.org/drawingml/2006/main">
              <a:ext uri="{FF2B5EF4-FFF2-40B4-BE49-F238E27FC236}">
                <a16:creationId xmlns:a16="http://schemas.microsoft.com/office/drawing/2014/main" id="{16175FC4-1D70-44E4-BDC7-F931A3CC7BE4}"/>
              </a:ext>
            </a:extLst>
          </p:cNvPr>
          <p:cNvSpPr>
            <a:spLocks xmlns:a="http://schemas.openxmlformats.org/drawingml/2006/main" noGrp="1"/>
          </p:cNvSpPr>
          <p:nvPr/>
        </p:nvSpPr>
        <p:spPr>
          <a:xfrm xmlns:a="http://schemas.openxmlformats.org/drawingml/2006/main">
            <a:off x="6572250" y="24955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Correct last-seen retrieval</a:t>
            </a:r>
          </a:p>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False confident answers</a:t>
            </a:r>
          </a:p>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Abstention and coverage</a:t>
            </a:r>
          </a:p>
          <a:p xmlns:a="http://schemas.openxmlformats.org/drawingml/2006/main">
            <a:pPr>
              <a:defRPr sz="2250" b="0">
                <a:solidFill>
                  <a:srgbClr val="173247"/>
                </a:solidFill>
                <a:latin typeface="Aptos"/>
                <a:ea typeface="Aptos"/>
                <a:cs typeface="Aptos"/>
              </a:defRPr>
            </a:pPr>
            <a:r>
              <a:rPr sz="2250" b="0">
                <a:solidFill>
                  <a:srgbClr val="173247"/>
                </a:solidFill>
                <a:latin typeface="Aptos"/>
                <a:ea typeface="Aptos"/>
                <a:cs typeface="Aptos"/>
              </a:rPr>
              <a:t>Position and relocalization errors</a:t>
            </a:r>
          </a:p>
        </p:txBody>
      </p:sp>
      <p:sp>
        <p:nvSpPr>
          <p:cNvPr id="7" name="">
            <a:extLst xmlns:a="http://schemas.openxmlformats.org/drawingml/2006/main">
              <a:ext uri="{FF2B5EF4-FFF2-40B4-BE49-F238E27FC236}">
                <a16:creationId xmlns:a16="http://schemas.microsoft.com/office/drawing/2014/main" id="{33710C6F-E7AB-41C4-B06C-3D66EF97AB22}"/>
              </a:ext>
            </a:extLst>
          </p:cNvPr>
          <p:cNvSpPr>
            <a:spLocks xmlns:a="http://schemas.openxmlformats.org/drawingml/2006/main" noGrp="1"/>
          </p:cNvSpPr>
          <p:nvPr/>
        </p:nvSpPr>
        <p:spPr>
          <a:xfrm xmlns:a="http://schemas.openxmlformats.org/drawingml/2006/main">
            <a:off x="666750" y="56578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247"/>
                </a:solidFill>
                <a:latin typeface="Aptos"/>
                <a:ea typeface="Aptos"/>
                <a:cs typeface="Aptos"/>
              </a:defRPr>
            </a:pPr>
            <a:r>
              <a:rPr sz="2100" b="1">
                <a:solidFill>
                  <a:srgbClr val="173247"/>
                </a:solidFill>
                <a:latin typeface="Aptos"/>
                <a:ea typeface="Aptos"/>
                <a:cs typeface="Aptos"/>
              </a:rPr>
              <a:t>Every useful answer includes its evidence, observation time, and uncertainty.</a:t>
            </a:r>
          </a:p>
        </p:txBody>
      </p:sp>
    </p:spTree>
    <p:extLst>
      <p:ext uri="{BB962C8B-B14F-4D97-AF65-F5344CB8AC3E}">
        <p14:creationId xmlns:p14="http://schemas.microsoft.com/office/powerpoint/2010/main" val="6067995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5CC077-B458-420D-960A-E4C229DADBD6}"/>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7"/>
                </a:solidFill>
                <a:latin typeface="Aptos"/>
                <a:ea typeface="Aptos"/>
                <a:cs typeface="Aptos"/>
              </a:defRPr>
            </a:pPr>
            <a:r>
              <a:rPr sz="3300" b="1">
                <a:solidFill>
                  <a:srgbClr val="173247"/>
                </a:solidFill>
                <a:latin typeface="Aptos"/>
                <a:ea typeface="Aptos"/>
                <a:cs typeface="Aptos"/>
              </a:rPr>
              <a:t>References and further reading</a:t>
            </a:r>
          </a:p>
        </p:txBody>
      </p:sp>
      <p:sp>
        <p:nvSpPr>
          <p:cNvPr id="2" name="">
            <a:extLst xmlns:a="http://schemas.openxmlformats.org/drawingml/2006/main">
              <a:ext uri="{FF2B5EF4-FFF2-40B4-BE49-F238E27FC236}">
                <a16:creationId xmlns:a16="http://schemas.microsoft.com/office/drawing/2014/main" id="{588B43EC-9035-49B4-BCFF-D0386D94D982}"/>
              </a:ext>
            </a:extLst>
          </p:cNvPr>
          <p:cNvSpPr>
            <a:spLocks xmlns:a="http://schemas.openxmlformats.org/drawingml/2006/main" noGrp="1"/>
          </p:cNvSpPr>
          <p:nvPr/>
        </p:nvSpPr>
        <p:spPr>
          <a:xfrm xmlns:a="http://schemas.openxmlformats.org/drawingml/2006/main">
            <a:off x="11049000" y="64103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977"/>
                </a:solidFill>
                <a:latin typeface="Aptos"/>
                <a:ea typeface="Aptos"/>
                <a:cs typeface="Aptos"/>
              </a:defRPr>
            </a:pPr>
            <a:r>
              <a:rPr sz="1275" b="0">
                <a:solidFill>
                  <a:srgbClr val="536977"/>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2D958701-A634-4188-A911-DB283B9628A7}"/>
              </a:ext>
            </a:extLst>
          </p:cNvPr>
          <p:cNvSpPr>
            <a:spLocks xmlns:a="http://schemas.openxmlformats.org/drawingml/2006/main" noGrp="1"/>
          </p:cNvSpPr>
          <p:nvPr/>
        </p:nvSpPr>
        <p:spPr>
          <a:xfrm xmlns:a="http://schemas.openxmlformats.org/drawingml/2006/main">
            <a:off x="666750" y="1666875"/>
            <a:ext cx="10858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47"/>
                </a:solidFill>
                <a:latin typeface="Aptos"/>
                <a:ea typeface="Aptos"/>
                <a:cs typeface="Aptos"/>
              </a:defRPr>
            </a:pPr>
            <a:r>
              <a:rPr sz="2100" b="0">
                <a:solidFill>
                  <a:srgbClr val="173247"/>
                </a:solidFill>
                <a:latin typeface="Aptos"/>
                <a:ea typeface="Aptos"/>
                <a:cs typeface="Aptos"/>
              </a:rPr>
              <a:t>[1] Grauman et al. · Ego4D · CVPR 2022</a:t>
            </a:r>
          </a:p>
          <a:p xmlns:a="http://schemas.openxmlformats.org/drawingml/2006/main">
            <a:pPr>
              <a:defRPr sz="2100" b="0">
                <a:solidFill>
                  <a:srgbClr val="173247"/>
                </a:solidFill>
                <a:latin typeface="Aptos"/>
                <a:ea typeface="Aptos"/>
                <a:cs typeface="Aptos"/>
              </a:defRPr>
            </a:pPr>
            <a:r>
              <a:rPr sz="2100" b="0">
                <a:solidFill>
                  <a:srgbClr val="173247"/>
                </a:solidFill>
                <a:latin typeface="Aptos"/>
                <a:ea typeface="Aptos"/>
                <a:cs typeface="Aptos"/>
              </a:rPr>
              <a:t>[2] Xu et al. · Where Is My Wallet? · CVPR 2023</a:t>
            </a:r>
          </a:p>
          <a:p xmlns:a="http://schemas.openxmlformats.org/drawingml/2006/main">
            <a:pPr>
              <a:defRPr sz="2100" b="0">
                <a:solidFill>
                  <a:srgbClr val="173247"/>
                </a:solidFill>
                <a:latin typeface="Aptos"/>
                <a:ea typeface="Aptos"/>
                <a:cs typeface="Aptos"/>
              </a:defRPr>
            </a:pPr>
            <a:r>
              <a:rPr sz="2100" b="0">
                <a:solidFill>
                  <a:srgbClr val="173247"/>
                </a:solidFill>
                <a:latin typeface="Aptos"/>
                <a:ea typeface="Aptos"/>
                <a:cs typeface="Aptos"/>
              </a:rPr>
              <a:t>[3] Manigrasso et al. · ESOM · WACV 2026</a:t>
            </a:r>
          </a:p>
          <a:p xmlns:a="http://schemas.openxmlformats.org/drawingml/2006/main">
            <a:pPr>
              <a:defRPr sz="2100" b="0">
                <a:solidFill>
                  <a:srgbClr val="173247"/>
                </a:solidFill>
                <a:latin typeface="Aptos"/>
                <a:ea typeface="Aptos"/>
                <a:cs typeface="Aptos"/>
              </a:defRPr>
            </a:pPr>
            <a:r>
              <a:rPr sz="2100" b="0">
                <a:solidFill>
                  <a:srgbClr val="173247"/>
                </a:solidFill>
                <a:latin typeface="Aptos"/>
                <a:ea typeface="Aptos"/>
                <a:cs typeface="Aptos"/>
              </a:rPr>
              <a:t>[4] Campos et al. · ORB-SLAM3 · T-RO 2021</a:t>
            </a:r>
          </a:p>
          <a:p xmlns:a="http://schemas.openxmlformats.org/drawingml/2006/main">
            <a:pPr>
              <a:defRPr sz="2100" b="0">
                <a:solidFill>
                  <a:srgbClr val="173247"/>
                </a:solidFill>
                <a:latin typeface="Aptos"/>
                <a:ea typeface="Aptos"/>
                <a:cs typeface="Aptos"/>
              </a:defRPr>
            </a:pPr>
            <a:r>
              <a:rPr sz="2100" b="0">
                <a:solidFill>
                  <a:srgbClr val="173247"/>
                </a:solidFill>
                <a:latin typeface="Aptos"/>
                <a:ea typeface="Aptos"/>
                <a:cs typeface="Aptos"/>
              </a:rPr>
              <a:t>[5] Mai et al. · EgoLoc · ICCV 2023</a:t>
            </a:r>
          </a:p>
        </p:txBody>
      </p:sp>
      <p:sp>
        <p:nvSpPr>
          <p:cNvPr id="4" name="">
            <a:extLst xmlns:a="http://schemas.openxmlformats.org/drawingml/2006/main">
              <a:ext uri="{FF2B5EF4-FFF2-40B4-BE49-F238E27FC236}">
                <a16:creationId xmlns:a16="http://schemas.microsoft.com/office/drawing/2014/main" id="{2044687E-D59F-42EA-87E9-999A1F6C1A2D}"/>
              </a:ext>
            </a:extLst>
          </p:cNvPr>
          <p:cNvSpPr>
            <a:spLocks xmlns:a="http://schemas.openxmlformats.org/drawingml/2006/main" noGrp="1"/>
          </p:cNvSpPr>
          <p:nvPr/>
        </p:nvSpPr>
        <p:spPr>
          <a:xfrm xmlns:a="http://schemas.openxmlformats.org/drawingml/2006/main">
            <a:off x="666750" y="414337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977"/>
                </a:solidFill>
                <a:latin typeface="Aptos"/>
                <a:ea typeface="Aptos"/>
                <a:cs typeface="Aptos"/>
              </a:defRPr>
            </a:pPr>
            <a:r>
              <a:rPr sz="1950" b="0">
                <a:solidFill>
                  <a:srgbClr val="536977"/>
                </a:solidFill>
                <a:latin typeface="Aptos"/>
                <a:ea typeface="Aptos"/>
                <a:cs typeface="Aptos"/>
              </a:rPr>
              <a:t>[6] Apple · Saved world maps and relocalization</a:t>
            </a:r>
          </a:p>
          <a:p xmlns:a="http://schemas.openxmlformats.org/drawingml/2006/main">
            <a:pPr>
              <a:defRPr sz="1950" b="0">
                <a:solidFill>
                  <a:srgbClr val="536977"/>
                </a:solidFill>
                <a:latin typeface="Aptos"/>
                <a:ea typeface="Aptos"/>
                <a:cs typeface="Aptos"/>
              </a:defRPr>
            </a:pPr>
            <a:r>
              <a:rPr sz="1950" b="0">
                <a:solidFill>
                  <a:srgbClr val="536977"/>
                </a:solidFill>
                <a:latin typeface="Aptos"/>
                <a:ea typeface="Aptos"/>
                <a:cs typeface="Aptos"/>
              </a:rPr>
              <a:t>[7] Google AI Edge · Post-training quantization</a:t>
            </a:r>
          </a:p>
          <a:p xmlns:a="http://schemas.openxmlformats.org/drawingml/2006/main">
            <a:pPr>
              <a:defRPr sz="1950" b="0">
                <a:solidFill>
                  <a:srgbClr val="536977"/>
                </a:solidFill>
                <a:latin typeface="Aptos"/>
                <a:ea typeface="Aptos"/>
                <a:cs typeface="Aptos"/>
              </a:defRPr>
            </a:pPr>
            <a:r>
              <a:rPr sz="1950" b="0">
                <a:solidFill>
                  <a:srgbClr val="536977"/>
                </a:solidFill>
                <a:latin typeface="Aptos"/>
                <a:ea typeface="Aptos"/>
                <a:cs typeface="Aptos"/>
              </a:rPr>
              <a:t>[8] W3C WAI · Older users and accessibility</a:t>
            </a:r>
          </a:p>
        </p:txBody>
      </p:sp>
      <p:sp>
        <p:nvSpPr>
          <p:cNvPr id="5" name="">
            <a:extLst xmlns:a="http://schemas.openxmlformats.org/drawingml/2006/main">
              <a:ext uri="{FF2B5EF4-FFF2-40B4-BE49-F238E27FC236}">
                <a16:creationId xmlns:a16="http://schemas.microsoft.com/office/drawing/2014/main" id="{493A771D-9A80-4594-BB99-ED37D21B33D3}"/>
              </a:ext>
            </a:extLst>
          </p:cNvPr>
          <p:cNvSpPr>
            <a:spLocks xmlns:a="http://schemas.openxmlformats.org/drawingml/2006/main" noGrp="1"/>
          </p:cNvSpPr>
          <p:nvPr/>
        </p:nvSpPr>
        <p:spPr>
          <a:xfrm xmlns:a="http://schemas.openxmlformats.org/drawingml/2006/main">
            <a:off x="666750" y="58959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6E78"/>
                </a:solidFill>
                <a:latin typeface="Aptos"/>
                <a:ea typeface="Aptos"/>
                <a:cs typeface="Aptos"/>
              </a:defRPr>
            </a:pPr>
            <a:r>
              <a:rPr sz="1875" b="1">
                <a:solidFill>
                  <a:srgbClr val="006E78"/>
                </a:solidFill>
                <a:latin typeface="Aptos"/>
                <a:ea typeface="Aptos"/>
                <a:cs typeface="Aptos"/>
              </a:rPr>
              <a:t>Full annotations and source links: website chapter 9</a:t>
            </a:r>
          </a:p>
        </p:txBody>
      </p:sp>
    </p:spTree>
    <p:extLst>
      <p:ext uri="{BB962C8B-B14F-4D97-AF65-F5344CB8AC3E}">
        <p14:creationId xmlns:p14="http://schemas.microsoft.com/office/powerpoint/2010/main" val="1127139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2026-10-06T22:54:38.0600000Z</dcterms:created>
  <dcterms:modified xsi:type="dcterms:W3CDTF">2026-10-06T22:54:38.0600000Z</dcterms:modified>
</coreProperties>
</file>